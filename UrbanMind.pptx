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30635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nurag-M1/UrbanMind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20040" y="256032"/>
            <a:ext cx="2286000" cy="320040"/>
          </a:xfrm>
          <a:prstGeom prst="rect">
            <a:avLst/>
          </a:prstGeom>
          <a:solidFill>
            <a:srgbClr val="007F8B"/>
          </a:solidFill>
          <a:ln w="12700">
            <a:solidFill>
              <a:srgbClr val="007F8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24688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FFFFFF"/>
                </a:solidFill>
              </a:rPr>
              <a:t>INDIA INNOVATES 2026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20040" y="713232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UrbanMind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320040" y="1554480"/>
            <a:ext cx="6858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AI Traffic Flow Optimizer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Emergency Grid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20040" y="2880360"/>
            <a:ext cx="5029200" cy="36576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" y="30358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B8C8"/>
                </a:solidFill>
              </a:rPr>
              <a:t>Team Name:  </a:t>
            </a:r>
            <a:r>
              <a:rPr lang="en-US" sz="1300" b="1" dirty="0">
                <a:solidFill>
                  <a:srgbClr val="FFFFFF"/>
                </a:solidFill>
              </a:rPr>
              <a:t>[Group M1]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33832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B8C8"/>
                </a:solidFill>
              </a:rPr>
              <a:t>Members:      </a:t>
            </a:r>
            <a:r>
              <a:rPr lang="en-US" sz="1300" b="1" dirty="0">
                <a:solidFill>
                  <a:srgbClr val="FFFFFF"/>
                </a:solidFill>
              </a:rPr>
              <a:t>[Anurag Singh , Prakhar Gupta, Yashraj Kumar</a:t>
            </a:r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                        Rungta University, Bhilai, Chhattisgarh ]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" y="373075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8BB8C8"/>
                </a:solidFill>
              </a:rPr>
              <a:t>Prototype:  </a:t>
            </a:r>
            <a:r>
              <a:rPr lang="en-US" sz="1300" b="1" dirty="0">
                <a:solidFill>
                  <a:srgbClr val="00C2CB"/>
                </a:solidFill>
              </a:rPr>
              <a:t>[</a:t>
            </a:r>
            <a:r>
              <a:rPr lang="en-US" sz="1300" b="1" dirty="0" err="1">
                <a:solidFill>
                  <a:srgbClr val="00C2CB"/>
                </a:solidFill>
              </a:rPr>
              <a:t>Github</a:t>
            </a:r>
            <a:r>
              <a:rPr lang="en-US" sz="1300" b="1" dirty="0">
                <a:solidFill>
                  <a:srgbClr val="00C2CB"/>
                </a:solidFill>
              </a:rPr>
              <a:t> : </a:t>
            </a:r>
            <a:r>
              <a:rPr lang="en-US" sz="1300" b="1" dirty="0">
                <a:solidFill>
                  <a:srgbClr val="00C2CB"/>
                </a:solidFill>
                <a:hlinkClick r:id="rId3"/>
              </a:rPr>
              <a:t>https://github.com/Anurag-M1/UrbanMind</a:t>
            </a:r>
            <a:r>
              <a:rPr lang="en-US" sz="1300" b="1" dirty="0">
                <a:solidFill>
                  <a:srgbClr val="00C2CB"/>
                </a:solidFill>
              </a:rPr>
              <a:t> ]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43600" y="868680"/>
            <a:ext cx="2926080" cy="3291840"/>
          </a:xfrm>
          <a:prstGeom prst="rect">
            <a:avLst/>
          </a:prstGeom>
          <a:solidFill>
            <a:srgbClr val="122540"/>
          </a:solidFill>
          <a:ln w="12700">
            <a:solidFill>
              <a:srgbClr val="007F8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943600" y="868680"/>
            <a:ext cx="2926080" cy="384048"/>
          </a:xfrm>
          <a:prstGeom prst="rect">
            <a:avLst/>
          </a:prstGeom>
          <a:solidFill>
            <a:srgbClr val="007F8B"/>
          </a:solidFill>
          <a:ln w="12700">
            <a:solidFill>
              <a:srgbClr val="007F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943600" y="86868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</a:rPr>
              <a:t>OUR VISION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08192" y="1435608"/>
            <a:ext cx="164592" cy="164592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364224" y="13716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every traffic signal into a real-time AI decision node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08192" y="2258568"/>
            <a:ext cx="164592" cy="164592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364224" y="21945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emergency vehicle response time via automated green corridors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108192" y="3081528"/>
            <a:ext cx="164592" cy="164592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364224" y="30175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 scalable, infra-light mobility layer for Indian cities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20040" y="480060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B8C8"/>
                </a:solidFill>
              </a:rPr>
              <a:t>AI-Powered Smart Traffic Management for Indian Cities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28600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C2CB"/>
                </a:solidFill>
              </a:rPr>
              <a:t>PROBLEM STATEMENT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28600" y="713232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of Static Urban Mobility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56032" y="1463040"/>
            <a:ext cx="4160520" cy="1261872"/>
          </a:xfrm>
          <a:prstGeom prst="rect">
            <a:avLst/>
          </a:prstGeom>
          <a:solidFill>
            <a:srgbClr val="122540"/>
          </a:solidFill>
          <a:ln w="12700">
            <a:solidFill>
              <a:srgbClr val="007F8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56032" y="1463040"/>
            <a:ext cx="73152" cy="126187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93192" y="15544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⏱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93192" y="188366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2CB"/>
                </a:solidFill>
              </a:rPr>
              <a:t>Fixed-Timer Signals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93192" y="2148840"/>
            <a:ext cx="3886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</a:rPr>
              <a:t>Signals run on pre-set timers, ignoring live density — causing artificial gridlock even on low-traffic lanes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6032" y="2926080"/>
            <a:ext cx="4160520" cy="1261872"/>
          </a:xfrm>
          <a:prstGeom prst="rect">
            <a:avLst/>
          </a:prstGeom>
          <a:solidFill>
            <a:srgbClr val="122540"/>
          </a:solidFill>
          <a:ln w="12700">
            <a:solidFill>
              <a:srgbClr val="007F8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56032" y="2926080"/>
            <a:ext cx="73152" cy="126187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93192" y="30175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🚑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93192" y="334670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2CB"/>
                </a:solidFill>
              </a:rPr>
              <a:t>Emergency Delays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93192" y="3611880"/>
            <a:ext cx="3886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</a:rPr>
              <a:t>Ambulances lose 3–5 min/km in Indian urban corridors due to signal delays — costing lives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90872" y="1463040"/>
            <a:ext cx="4160520" cy="1261872"/>
          </a:xfrm>
          <a:prstGeom prst="rect">
            <a:avLst/>
          </a:prstGeom>
          <a:solidFill>
            <a:srgbClr val="122540"/>
          </a:solidFill>
          <a:ln w="12700">
            <a:solidFill>
              <a:srgbClr val="007F8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690872" y="1463040"/>
            <a:ext cx="73152" cy="126187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28032" y="15544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📉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828032" y="188366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2CB"/>
                </a:solidFill>
              </a:rPr>
              <a:t>Zero Visibility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28032" y="2148840"/>
            <a:ext cx="3886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</a:rPr>
              <a:t>City authorities have no real-time traffic data — decisions rely on manual observation or dated reports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90872" y="2926080"/>
            <a:ext cx="4160520" cy="1261872"/>
          </a:xfrm>
          <a:prstGeom prst="rect">
            <a:avLst/>
          </a:prstGeom>
          <a:solidFill>
            <a:srgbClr val="122540"/>
          </a:solidFill>
          <a:ln w="12700">
            <a:solidFill>
              <a:srgbClr val="007F8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690872" y="2926080"/>
            <a:ext cx="73152" cy="126187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28032" y="30175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⛽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828032" y="334670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2CB"/>
                </a:solidFill>
              </a:rPr>
              <a:t>Fuel &amp; Emission Waste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28032" y="3611880"/>
            <a:ext cx="3886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</a:rPr>
              <a:t>Stop-and-go idling at over-green signals contributes to 15–20% excess vehicular pollution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007F8B"/>
          </a:solidFill>
          <a:ln w="12700">
            <a:solidFill>
              <a:srgbClr val="007F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82880" y="4773168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India loses ₹1.47 lakh crore annually to urban traffic congestion  |  Source: MoRTH 2023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28600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6B35"/>
                </a:solidFill>
              </a:rPr>
              <a:t>CONTEXT &amp; URGENCY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28600" y="713232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Problem Demands Action Now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256032" y="1463040"/>
            <a:ext cx="1993392" cy="3291840"/>
          </a:xfrm>
          <a:prstGeom prst="rect">
            <a:avLst/>
          </a:prstGeom>
          <a:solidFill>
            <a:srgbClr val="122540"/>
          </a:solidFill>
          <a:ln w="12700">
            <a:solidFill>
              <a:srgbClr val="0D1F3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56032" y="1463040"/>
            <a:ext cx="1993392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56032" y="1627632"/>
            <a:ext cx="1993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56032" y="2286000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Most Congested Cities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8912" y="2743200"/>
            <a:ext cx="1627632" cy="18288"/>
          </a:xfrm>
          <a:prstGeom prst="rect">
            <a:avLst/>
          </a:prstGeom>
          <a:solidFill>
            <a:srgbClr val="007F8B"/>
          </a:solidFill>
          <a:ln w="12700">
            <a:solidFill>
              <a:srgbClr val="007F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7472" y="2834640"/>
            <a:ext cx="1828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BB8C8"/>
                </a:solidFill>
              </a:rPr>
              <a:t>Mumbai, Delhi, Bengaluru &amp; Pune feature in global top-10 (TomTom Traffic Index, 2024)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423160" y="1463040"/>
            <a:ext cx="1993392" cy="3291840"/>
          </a:xfrm>
          <a:prstGeom prst="rect">
            <a:avLst/>
          </a:prstGeom>
          <a:solidFill>
            <a:srgbClr val="122540"/>
          </a:solidFill>
          <a:ln w="12700">
            <a:solidFill>
              <a:srgbClr val="0D1F3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423160" y="1463040"/>
            <a:ext cx="1993392" cy="54864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423160" y="1627632"/>
            <a:ext cx="1993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1.68L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2423160" y="2286000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Road Deaths in 2023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606040" y="2743200"/>
            <a:ext cx="1627632" cy="18288"/>
          </a:xfrm>
          <a:prstGeom prst="rect">
            <a:avLst/>
          </a:prstGeom>
          <a:solidFill>
            <a:srgbClr val="007F8B"/>
          </a:solidFill>
          <a:ln w="12700">
            <a:solidFill>
              <a:srgbClr val="007F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514600" y="2834640"/>
            <a:ext cx="1828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BB8C8"/>
                </a:solidFill>
              </a:rPr>
              <a:t>Delayed emergency response is a key contributing factor (MoRTH Annual Report 2023)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90288" y="1463040"/>
            <a:ext cx="1993392" cy="3291840"/>
          </a:xfrm>
          <a:prstGeom prst="rect">
            <a:avLst/>
          </a:prstGeom>
          <a:solidFill>
            <a:srgbClr val="122540"/>
          </a:solidFill>
          <a:ln w="12700">
            <a:solidFill>
              <a:srgbClr val="0D1F3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90288" y="1463040"/>
            <a:ext cx="1993392" cy="54864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90288" y="1627632"/>
            <a:ext cx="1993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 p.a.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4590288" y="2286000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Vehicle Population Growth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773168" y="2743200"/>
            <a:ext cx="1627632" cy="18288"/>
          </a:xfrm>
          <a:prstGeom prst="rect">
            <a:avLst/>
          </a:prstGeom>
          <a:solidFill>
            <a:srgbClr val="007F8B"/>
          </a:solidFill>
          <a:ln w="12700">
            <a:solidFill>
              <a:srgbClr val="007F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681728" y="2834640"/>
            <a:ext cx="1828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BB8C8"/>
                </a:solidFill>
              </a:rPr>
              <a:t>Urban vehicle fleet grows at 8%/yr while road infrastructure grows under 2%/yr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757416" y="1463040"/>
            <a:ext cx="1993392" cy="3291840"/>
          </a:xfrm>
          <a:prstGeom prst="rect">
            <a:avLst/>
          </a:prstGeom>
          <a:solidFill>
            <a:srgbClr val="122540"/>
          </a:solidFill>
          <a:ln w="12700">
            <a:solidFill>
              <a:srgbClr val="0D1F3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757416" y="1463040"/>
            <a:ext cx="1993392" cy="54864"/>
          </a:xfrm>
          <a:prstGeom prst="rect">
            <a:avLst/>
          </a:prstGeom>
          <a:solidFill>
            <a:srgbClr val="8BB8C8"/>
          </a:solidFill>
          <a:ln w="12700">
            <a:solidFill>
              <a:srgbClr val="8BB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757416" y="1627632"/>
            <a:ext cx="1993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8B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6757416" y="2286000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Active Signal Optimizers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940296" y="2743200"/>
            <a:ext cx="1627632" cy="18288"/>
          </a:xfrm>
          <a:prstGeom prst="rect">
            <a:avLst/>
          </a:prstGeom>
          <a:solidFill>
            <a:srgbClr val="007F8B"/>
          </a:solidFill>
          <a:ln w="12700">
            <a:solidFill>
              <a:srgbClr val="007F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848856" y="2834640"/>
            <a:ext cx="1828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BB8C8"/>
                </a:solidFill>
              </a:rPr>
              <a:t>Existing smart city deployments focus on surveillance — not real-time traffic optimization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28600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C2CB"/>
                </a:solidFill>
              </a:rPr>
              <a:t>OUR SOLUTION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28600" y="71323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UrbanMind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228600" y="1188720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edge-deployed AI system that uses existing CCTV to convert passive cameras into active traffic intelligence nodes — no new road hardware required.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228600" y="1847088"/>
            <a:ext cx="2029968" cy="3017520"/>
          </a:xfrm>
          <a:prstGeom prst="rect">
            <a:avLst/>
          </a:prstGeom>
          <a:solidFill>
            <a:srgbClr val="122540"/>
          </a:solidFill>
          <a:ln w="12700">
            <a:solidFill>
              <a:srgbClr val="0D1F3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28600" y="1847088"/>
            <a:ext cx="2029968" cy="438912"/>
          </a:xfrm>
          <a:prstGeom prst="rect">
            <a:avLst/>
          </a:prstGeom>
          <a:solidFill>
            <a:srgbClr val="007F8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28600" y="1847088"/>
            <a:ext cx="20299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20040" y="23774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2CB"/>
                </a:solidFill>
              </a:rPr>
              <a:t>CV Vehicle Detection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0040" y="2834640"/>
            <a:ext cx="188366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</a:rPr>
              <a:t>Per-lane vehicle count &amp; queue-length via YOLOv8 at 15–30 FPS on edge hardware — fine-tuned for Indian mixed traffic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423160" y="1847088"/>
            <a:ext cx="2029968" cy="3017520"/>
          </a:xfrm>
          <a:prstGeom prst="rect">
            <a:avLst/>
          </a:prstGeom>
          <a:solidFill>
            <a:srgbClr val="122540"/>
          </a:solidFill>
          <a:ln w="12700">
            <a:solidFill>
              <a:srgbClr val="0D1F3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423160" y="1847088"/>
            <a:ext cx="2029968" cy="438912"/>
          </a:xfrm>
          <a:prstGeom prst="rect">
            <a:avLst/>
          </a:prstGeom>
          <a:solidFill>
            <a:srgbClr val="007F8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423160" y="1847088"/>
            <a:ext cx="20299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514600" y="23774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2CB"/>
                </a:solidFill>
              </a:rPr>
              <a:t>Adaptive Signal Timing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14600" y="2834640"/>
            <a:ext cx="188366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</a:rPr>
              <a:t>Webster's formula recalculates optimal green time every 10 seconds per intersection — no rule-based presets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17720" y="1847088"/>
            <a:ext cx="2029968" cy="3017520"/>
          </a:xfrm>
          <a:prstGeom prst="rect">
            <a:avLst/>
          </a:prstGeom>
          <a:solidFill>
            <a:srgbClr val="122540"/>
          </a:solidFill>
          <a:ln w="12700">
            <a:solidFill>
              <a:srgbClr val="0D1F3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617720" y="1847088"/>
            <a:ext cx="2029968" cy="43891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617720" y="1847088"/>
            <a:ext cx="20299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709160" y="23774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35"/>
                </a:solidFill>
              </a:rPr>
              <a:t>Emergency Green Corridor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09160" y="2834640"/>
            <a:ext cx="188366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</a:rPr>
              <a:t>Pre-clears up to 5 signals (800m) ahead of detected emergency vehicles; handles 2 simultaneous vehicles via priority queue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812280" y="1847088"/>
            <a:ext cx="2029968" cy="3017520"/>
          </a:xfrm>
          <a:prstGeom prst="rect">
            <a:avLst/>
          </a:prstGeom>
          <a:solidFill>
            <a:srgbClr val="122540"/>
          </a:solidFill>
          <a:ln w="12700">
            <a:solidFill>
              <a:srgbClr val="0D1F3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812280" y="1847088"/>
            <a:ext cx="2029968" cy="438912"/>
          </a:xfrm>
          <a:prstGeom prst="rect">
            <a:avLst/>
          </a:prstGeom>
          <a:solidFill>
            <a:srgbClr val="007F8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812280" y="1847088"/>
            <a:ext cx="20299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903720" y="23774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2CB"/>
                </a:solidFill>
              </a:rPr>
              <a:t>Authority Dashboard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903720" y="2834640"/>
            <a:ext cx="188366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</a:rPr>
              <a:t>Live intersection heatmap, per-lane KPIs, emergency corridor status — all in one React web console for city authorities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28600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C2CB"/>
                </a:solidFill>
              </a:rPr>
              <a:t>SYSTEM ARCHITECTURE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28600" y="777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C2CB"/>
                </a:solidFill>
              </a:rPr>
              <a:t>STANDARD FLOW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8600" y="1097280"/>
            <a:ext cx="1463040" cy="777240"/>
          </a:xfrm>
          <a:prstGeom prst="rect">
            <a:avLst/>
          </a:prstGeom>
          <a:solidFill>
            <a:srgbClr val="007F8B"/>
          </a:solidFill>
          <a:ln w="12700">
            <a:solidFill>
              <a:srgbClr val="00C2C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28600" y="1097280"/>
            <a:ext cx="146304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CCTV Feed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691640" y="1426464"/>
            <a:ext cx="274320" cy="54864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965960" y="1097280"/>
            <a:ext cx="1463040" cy="777240"/>
          </a:xfrm>
          <a:prstGeom prst="rect">
            <a:avLst/>
          </a:prstGeom>
          <a:solidFill>
            <a:srgbClr val="007F8B"/>
          </a:solidFill>
          <a:ln w="12700">
            <a:solidFill>
              <a:srgbClr val="00C2C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965960" y="1097280"/>
            <a:ext cx="146304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YOLOv8 Detection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(Edge)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29000" y="1426464"/>
            <a:ext cx="274320" cy="54864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703320" y="1097280"/>
            <a:ext cx="1463040" cy="777240"/>
          </a:xfrm>
          <a:prstGeom prst="rect">
            <a:avLst/>
          </a:prstGeom>
          <a:solidFill>
            <a:srgbClr val="007F8B"/>
          </a:solidFill>
          <a:ln w="12700">
            <a:solidFill>
              <a:srgbClr val="00C2C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703320" y="1097280"/>
            <a:ext cx="146304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Density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Calculation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66360" y="1426464"/>
            <a:ext cx="274320" cy="54864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440680" y="1097280"/>
            <a:ext cx="1463040" cy="777240"/>
          </a:xfrm>
          <a:prstGeom prst="rect">
            <a:avLst/>
          </a:prstGeom>
          <a:solidFill>
            <a:srgbClr val="007F8B"/>
          </a:solidFill>
          <a:ln w="12700">
            <a:solidFill>
              <a:srgbClr val="00C2C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40680" y="1097280"/>
            <a:ext cx="146304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Webster's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Algorithm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903720" y="1426464"/>
            <a:ext cx="274320" cy="54864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178040" y="1097280"/>
            <a:ext cx="1463040" cy="77724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178040" y="1097280"/>
            <a:ext cx="146304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Signal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Controller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28600" y="21031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6B35"/>
                </a:solidFill>
              </a:rPr>
              <a:t>EMERGENCY FLOW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8600" y="2423160"/>
            <a:ext cx="1463040" cy="804672"/>
          </a:xfrm>
          <a:prstGeom prst="rect">
            <a:avLst/>
          </a:prstGeom>
          <a:solidFill>
            <a:srgbClr val="2A1200"/>
          </a:solidFill>
          <a:ln w="12700">
            <a:solidFill>
              <a:srgbClr val="FF6B3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28600" y="2423160"/>
            <a:ext cx="1463040" cy="8046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GPS + Siren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Detection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691640" y="2761488"/>
            <a:ext cx="27432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965960" y="2423160"/>
            <a:ext cx="1463040" cy="804672"/>
          </a:xfrm>
          <a:prstGeom prst="rect">
            <a:avLst/>
          </a:prstGeom>
          <a:solidFill>
            <a:srgbClr val="2A1200"/>
          </a:solidFill>
          <a:ln w="12700">
            <a:solidFill>
              <a:srgbClr val="FF6B3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965960" y="2423160"/>
            <a:ext cx="1463040" cy="8046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Route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Prediction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429000" y="2761488"/>
            <a:ext cx="27432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703320" y="2423160"/>
            <a:ext cx="1463040" cy="804672"/>
          </a:xfrm>
          <a:prstGeom prst="rect">
            <a:avLst/>
          </a:prstGeom>
          <a:solidFill>
            <a:srgbClr val="2A1200"/>
          </a:solidFill>
          <a:ln w="12700">
            <a:solidFill>
              <a:srgbClr val="FF6B3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703320" y="2423160"/>
            <a:ext cx="1463040" cy="8046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Signal Pre-emption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(800m / 5 signals)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166360" y="2761488"/>
            <a:ext cx="27432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440680" y="2423160"/>
            <a:ext cx="1463040" cy="804672"/>
          </a:xfrm>
          <a:prstGeom prst="rect">
            <a:avLst/>
          </a:prstGeom>
          <a:solidFill>
            <a:srgbClr val="2A1200"/>
          </a:solidFill>
          <a:ln w="12700">
            <a:solidFill>
              <a:srgbClr val="FF6B3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440680" y="2423160"/>
            <a:ext cx="1463040" cy="8046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Post-passage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Deactivation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903720" y="2761488"/>
            <a:ext cx="27432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7178040" y="2423160"/>
            <a:ext cx="1463040" cy="804672"/>
          </a:xfrm>
          <a:prstGeom prst="rect">
            <a:avLst/>
          </a:prstGeom>
          <a:solidFill>
            <a:srgbClr val="2A1200"/>
          </a:solidFill>
          <a:ln w="12700">
            <a:solidFill>
              <a:srgbClr val="FF6B3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178040" y="2423160"/>
            <a:ext cx="1463040" cy="8046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Return to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Adaptive Mode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228600" y="3493008"/>
            <a:ext cx="2011680" cy="1417320"/>
          </a:xfrm>
          <a:prstGeom prst="rect">
            <a:avLst/>
          </a:prstGeom>
          <a:solidFill>
            <a:srgbClr val="122540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228600" y="3493008"/>
            <a:ext cx="54864" cy="141732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38328" y="354787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B8C8"/>
                </a:solidFill>
              </a:rPr>
              <a:t>Inference Latency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38328" y="38404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2CB"/>
                </a:solidFill>
              </a:rPr>
              <a:t>&lt; 800ms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2404872" y="3493008"/>
            <a:ext cx="2011680" cy="1417320"/>
          </a:xfrm>
          <a:prstGeom prst="rect">
            <a:avLst/>
          </a:prstGeom>
          <a:solidFill>
            <a:srgbClr val="122540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2404872" y="3493008"/>
            <a:ext cx="54864" cy="141732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2514600" y="354787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B8C8"/>
                </a:solidFill>
              </a:rPr>
              <a:t>Edge Hardware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514600" y="38404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2CB"/>
                </a:solidFill>
              </a:rPr>
              <a:t>Jetson Nano / RPi 5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4581144" y="3493008"/>
            <a:ext cx="2011680" cy="1417320"/>
          </a:xfrm>
          <a:prstGeom prst="rect">
            <a:avLst/>
          </a:prstGeom>
          <a:solidFill>
            <a:srgbClr val="122540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4581144" y="3493008"/>
            <a:ext cx="54864" cy="14173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690872" y="354787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B8C8"/>
                </a:solidFill>
              </a:rPr>
              <a:t>Fallback Mode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690872" y="38404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35"/>
                </a:solidFill>
              </a:rPr>
              <a:t>Auto fixed-timer revert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6757416" y="3493008"/>
            <a:ext cx="2011680" cy="1417320"/>
          </a:xfrm>
          <a:prstGeom prst="rect">
            <a:avLst/>
          </a:prstGeom>
          <a:solidFill>
            <a:srgbClr val="122540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6757416" y="3493008"/>
            <a:ext cx="54864" cy="14173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6867144" y="354787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B8C8"/>
                </a:solidFill>
              </a:rPr>
              <a:t>GPS Fail Handling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867144" y="38404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35"/>
                </a:solidFill>
              </a:rPr>
              <a:t>Acoustic siren fallback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28600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C2CB"/>
                </a:solidFill>
              </a:rPr>
              <a:t>AI DECISION PIPELINE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56032" y="868680"/>
            <a:ext cx="4160520" cy="1234440"/>
          </a:xfrm>
          <a:prstGeom prst="rect">
            <a:avLst/>
          </a:prstGeom>
          <a:solidFill>
            <a:srgbClr val="122540"/>
          </a:solidFill>
          <a:ln w="12700">
            <a:solidFill>
              <a:srgbClr val="0D1F3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56032" y="868680"/>
            <a:ext cx="457200" cy="1234440"/>
          </a:xfrm>
          <a:prstGeom prst="rect">
            <a:avLst/>
          </a:prstGeom>
          <a:solidFill>
            <a:srgbClr val="007F8B"/>
          </a:solidFill>
          <a:ln w="12700">
            <a:solidFill>
              <a:srgbClr val="007F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56032" y="868680"/>
            <a:ext cx="457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2CB"/>
                </a:solidFill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86384" y="96012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2CB"/>
                </a:solidFill>
              </a:rPr>
              <a:t>Video Feed Ingestion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86384" y="132588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8"/>
                </a:solidFill>
              </a:rPr>
              <a:t>RTSP stream from existing CCTV  (720p min) parsed at 15–30 FPS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176272" y="2103120"/>
            <a:ext cx="54864" cy="15544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56032" y="2258568"/>
            <a:ext cx="4160520" cy="1234440"/>
          </a:xfrm>
          <a:prstGeom prst="rect">
            <a:avLst/>
          </a:prstGeom>
          <a:solidFill>
            <a:srgbClr val="122540"/>
          </a:solidFill>
          <a:ln w="12700">
            <a:solidFill>
              <a:srgbClr val="0D1F3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56032" y="2258568"/>
            <a:ext cx="457200" cy="1234440"/>
          </a:xfrm>
          <a:prstGeom prst="rect">
            <a:avLst/>
          </a:prstGeom>
          <a:solidFill>
            <a:srgbClr val="007F8B"/>
          </a:solidFill>
          <a:ln w="12700">
            <a:solidFill>
              <a:srgbClr val="007F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56032" y="2258568"/>
            <a:ext cx="457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2CB"/>
                </a:solidFill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86384" y="235000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2CB"/>
                </a:solidFill>
              </a:rPr>
              <a:t>YOLOv8 Object Detection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86384" y="2715768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8"/>
                </a:solidFill>
              </a:rPr>
              <a:t>Classifies cars, bikes, autos, trucks &amp; pedestrians per lane — fine-tuned on Indian road dataset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176272" y="3493008"/>
            <a:ext cx="54864" cy="15544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56032" y="3648456"/>
            <a:ext cx="4160520" cy="1234440"/>
          </a:xfrm>
          <a:prstGeom prst="rect">
            <a:avLst/>
          </a:prstGeom>
          <a:solidFill>
            <a:srgbClr val="122540"/>
          </a:solidFill>
          <a:ln w="12700">
            <a:solidFill>
              <a:srgbClr val="0D1F3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56032" y="3648456"/>
            <a:ext cx="457200" cy="1234440"/>
          </a:xfrm>
          <a:prstGeom prst="rect">
            <a:avLst/>
          </a:prstGeom>
          <a:solidFill>
            <a:srgbClr val="007F8B"/>
          </a:solidFill>
          <a:ln w="12700">
            <a:solidFill>
              <a:srgbClr val="007F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56032" y="3648456"/>
            <a:ext cx="457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2CB"/>
                </a:solidFill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86384" y="3739896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2CB"/>
                </a:solidFill>
              </a:rPr>
              <a:t>Queue Length &amp; Density Score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86384" y="4105656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8"/>
                </a:solidFill>
              </a:rPr>
              <a:t>Pixel-area-to-vehicle-count ratio per lane; confidence threshold ≥ 0.65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709160" y="868680"/>
            <a:ext cx="4160520" cy="1234440"/>
          </a:xfrm>
          <a:prstGeom prst="rect">
            <a:avLst/>
          </a:prstGeom>
          <a:solidFill>
            <a:srgbClr val="122540"/>
          </a:solidFill>
          <a:ln w="12700">
            <a:solidFill>
              <a:srgbClr val="0D1F3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709160" y="868680"/>
            <a:ext cx="457200" cy="1234440"/>
          </a:xfrm>
          <a:prstGeom prst="rect">
            <a:avLst/>
          </a:prstGeom>
          <a:solidFill>
            <a:srgbClr val="007F8B"/>
          </a:solidFill>
          <a:ln w="12700">
            <a:solidFill>
              <a:srgbClr val="007F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709160" y="868680"/>
            <a:ext cx="457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2CB"/>
                </a:solidFill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239512" y="96012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2CB"/>
                </a:solidFill>
              </a:rPr>
              <a:t>Webster's Cycle Optimisation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239512" y="132588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8"/>
                </a:solidFill>
              </a:rPr>
              <a:t>g = (C × q) / Q  —  C = cycle length, q = lane flow, q = saturation flow; recalculated every 10 sec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629400" y="2103120"/>
            <a:ext cx="54864" cy="15544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709160" y="2258568"/>
            <a:ext cx="4160520" cy="1234440"/>
          </a:xfrm>
          <a:prstGeom prst="rect">
            <a:avLst/>
          </a:prstGeom>
          <a:solidFill>
            <a:srgbClr val="122540"/>
          </a:solidFill>
          <a:ln w="12700">
            <a:solidFill>
              <a:srgbClr val="0D1F3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709160" y="2258568"/>
            <a:ext cx="457200" cy="1234440"/>
          </a:xfrm>
          <a:prstGeom prst="rect">
            <a:avLst/>
          </a:prstGeom>
          <a:solidFill>
            <a:srgbClr val="007F8B"/>
          </a:solidFill>
          <a:ln w="12700">
            <a:solidFill>
              <a:srgbClr val="007F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709160" y="2258568"/>
            <a:ext cx="457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2CB"/>
                </a:solidFill>
              </a:rPr>
              <a:t>5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5239512" y="235000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2CB"/>
                </a:solidFill>
              </a:rPr>
              <a:t>Signal Controller Command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239512" y="2715768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8"/>
                </a:solidFill>
              </a:rPr>
              <a:t>Pushes updated phase timing via Modbus/REST API to existing signal hardware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629400" y="3493008"/>
            <a:ext cx="54864" cy="15544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709160" y="3648456"/>
            <a:ext cx="4160520" cy="1234440"/>
          </a:xfrm>
          <a:prstGeom prst="rect">
            <a:avLst/>
          </a:prstGeom>
          <a:solidFill>
            <a:srgbClr val="122540"/>
          </a:solidFill>
          <a:ln w="12700">
            <a:solidFill>
              <a:srgbClr val="0D1F3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709160" y="3648456"/>
            <a:ext cx="457200" cy="1234440"/>
          </a:xfrm>
          <a:prstGeom prst="rect">
            <a:avLst/>
          </a:prstGeom>
          <a:solidFill>
            <a:srgbClr val="007F8B"/>
          </a:solidFill>
          <a:ln w="12700">
            <a:solidFill>
              <a:srgbClr val="007F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709160" y="3648456"/>
            <a:ext cx="457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2CB"/>
                </a:solidFill>
              </a:rPr>
              <a:t>6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5239512" y="3739896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2CB"/>
                </a:solidFill>
              </a:rPr>
              <a:t>Feedback Loop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239512" y="4105656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8"/>
                </a:solidFill>
              </a:rPr>
              <a:t>Residual queue fed back into next cycle; loop closes within 800ms end-to-end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007F8B"/>
          </a:solidFill>
          <a:ln w="12700">
            <a:solidFill>
              <a:srgbClr val="007F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228600" y="475488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Optimization Target: Minimize total vehicle-seconds of delay across all lanes per intersection cycle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28600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C2CB"/>
                </a:solidFill>
              </a:rPr>
              <a:t>TECHNOLOGY STACK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28600" y="822960"/>
            <a:ext cx="5120640" cy="749808"/>
          </a:xfrm>
          <a:prstGeom prst="rect">
            <a:avLst/>
          </a:prstGeom>
          <a:solidFill>
            <a:srgbClr val="122540"/>
          </a:solidFill>
          <a:ln w="12700">
            <a:solidFill>
              <a:srgbClr val="0D1F3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28600" y="822960"/>
            <a:ext cx="64008" cy="74980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86868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2CB"/>
                </a:solidFill>
              </a:rPr>
              <a:t>Computer Vision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15214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</a:rPr>
              <a:t>YOLOv8n (edge-speed variant)  •  OpenCV 4.x  •  RTSP stream parser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8600" y="1737360"/>
            <a:ext cx="5120640" cy="749808"/>
          </a:xfrm>
          <a:prstGeom prst="rect">
            <a:avLst/>
          </a:prstGeom>
          <a:solidFill>
            <a:srgbClr val="122540"/>
          </a:solidFill>
          <a:ln w="12700">
            <a:solidFill>
              <a:srgbClr val="0D1F3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28600" y="1737360"/>
            <a:ext cx="64008" cy="74980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178308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2CB"/>
                </a:solidFill>
              </a:rPr>
              <a:t>Backend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206654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</a:rPr>
              <a:t>FastAPI (signal controller API)  •  MQTT broker  •  Redis (intersection state)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28600" y="2651760"/>
            <a:ext cx="5120640" cy="749808"/>
          </a:xfrm>
          <a:prstGeom prst="rect">
            <a:avLst/>
          </a:prstGeom>
          <a:solidFill>
            <a:srgbClr val="122540"/>
          </a:solidFill>
          <a:ln w="12700">
            <a:solidFill>
              <a:srgbClr val="0D1F3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28600" y="2651760"/>
            <a:ext cx="64008" cy="74980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65760" y="269748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2CB"/>
                </a:solidFill>
              </a:rPr>
              <a:t>Frontend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" y="298094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</a:rPr>
              <a:t>React.js dashboard — live heatmap, per-intersection KPIs, corridor status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28600" y="3566160"/>
            <a:ext cx="5120640" cy="749808"/>
          </a:xfrm>
          <a:prstGeom prst="rect">
            <a:avLst/>
          </a:prstGeom>
          <a:solidFill>
            <a:srgbClr val="122540"/>
          </a:solidFill>
          <a:ln w="12700">
            <a:solidFill>
              <a:srgbClr val="0D1F3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28600" y="3566160"/>
            <a:ext cx="64008" cy="74980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65760" y="361188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2CB"/>
                </a:solidFill>
              </a:rPr>
              <a:t>Hardware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389534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</a:rPr>
              <a:t>NVIDIA Jetson Nano  /  Raspberry Pi 5  •  Modbus/REST adapter to signal HW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577840" y="822960"/>
            <a:ext cx="3337560" cy="3931920"/>
          </a:xfrm>
          <a:prstGeom prst="rect">
            <a:avLst/>
          </a:prstGeom>
          <a:solidFill>
            <a:srgbClr val="122540"/>
          </a:solidFill>
          <a:ln w="12700">
            <a:solidFill>
              <a:srgbClr val="007F8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577840" y="822960"/>
            <a:ext cx="3337560" cy="411480"/>
          </a:xfrm>
          <a:prstGeom prst="rect">
            <a:avLst/>
          </a:prstGeom>
          <a:solidFill>
            <a:srgbClr val="007F8B"/>
          </a:solidFill>
          <a:ln w="12700">
            <a:solidFill>
              <a:srgbClr val="007F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577840" y="82296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200" dirty="0">
                <a:solidFill>
                  <a:srgbClr val="FFFFFF"/>
                </a:solidFill>
              </a:rPr>
              <a:t>DATA INPUTS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715000" y="1426464"/>
            <a:ext cx="137160" cy="13716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943600" y="135331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</a:rPr>
              <a:t>Live RTSP feeds from municipal CCTV (existing infra)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715000" y="2066544"/>
            <a:ext cx="137160" cy="13716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943600" y="199339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</a:rPr>
              <a:t>Emergency vehicle GPS — integrated with 108/101 dispatch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715000" y="2706624"/>
            <a:ext cx="137160" cy="13716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943600" y="263347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</a:rPr>
              <a:t>Acoustic siren classifier (custom CNN, 94% urban accuracy)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715000" y="3346704"/>
            <a:ext cx="137160" cy="13716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943600" y="327355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</a:rPr>
              <a:t>Historical intersection flow for cycle-length calibration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715000" y="3986784"/>
            <a:ext cx="137160" cy="13716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943600" y="391363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</a:rPr>
              <a:t>Weather API flag — conservative timing in rain/fog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28600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C2CB"/>
                </a:solidFill>
              </a:rPr>
              <a:t>KEY FEATURES &amp; USP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28600" y="71323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UrbanMind Different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228600" y="1371600"/>
            <a:ext cx="4206240" cy="1078992"/>
          </a:xfrm>
          <a:prstGeom prst="rect">
            <a:avLst/>
          </a:prstGeom>
          <a:solidFill>
            <a:srgbClr val="122540"/>
          </a:solidFill>
          <a:ln w="12700">
            <a:solidFill>
              <a:srgbClr val="0D1F3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28600" y="1371600"/>
            <a:ext cx="64008" cy="107899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56616" y="1444752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🇮🇳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50392" y="144475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2CB"/>
                </a:solidFill>
              </a:rPr>
              <a:t>Indian Traffic Optimised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50392" y="1773936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</a:rPr>
              <a:t>YOLOv8 fine-tuned on Indian road datasets — handles 2-wheelers, autos, cattle &amp; pedestrians absent from standard COCO datasets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2578608"/>
            <a:ext cx="4206240" cy="1078992"/>
          </a:xfrm>
          <a:prstGeom prst="rect">
            <a:avLst/>
          </a:prstGeom>
          <a:solidFill>
            <a:srgbClr val="122540"/>
          </a:solidFill>
          <a:ln w="12700">
            <a:solidFill>
              <a:srgbClr val="0D1F3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28600" y="2578608"/>
            <a:ext cx="64008" cy="107899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56616" y="2651760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🧠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50392" y="265176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2CB"/>
                </a:solidFill>
              </a:rPr>
              <a:t>True Adaptive Control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50392" y="2980944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</a:rPr>
              <a:t>Webster's algorithm recalculates signal timings every 10 sec — not rule-based presets; proven to cut wait time 28–35%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8600" y="3785616"/>
            <a:ext cx="4206240" cy="1078992"/>
          </a:xfrm>
          <a:prstGeom prst="rect">
            <a:avLst/>
          </a:prstGeom>
          <a:solidFill>
            <a:srgbClr val="122540"/>
          </a:solidFill>
          <a:ln w="12700">
            <a:solidFill>
              <a:srgbClr val="0D1F3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28600" y="3785616"/>
            <a:ext cx="64008" cy="107899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56616" y="3858768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🚨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50392" y="3858768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35"/>
                </a:solidFill>
              </a:rPr>
              <a:t>Full-Spec Emergency Corridor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50392" y="4187952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</a:rPr>
              <a:t>Pre-empts 5 consecutive signals (800m); handles 2 simultaneous vehicles via priority queue; auto-deactivates post-passage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09160" y="1371600"/>
            <a:ext cx="4206240" cy="1078992"/>
          </a:xfrm>
          <a:prstGeom prst="rect">
            <a:avLst/>
          </a:prstGeom>
          <a:solidFill>
            <a:srgbClr val="122540"/>
          </a:solidFill>
          <a:ln w="12700">
            <a:solidFill>
              <a:srgbClr val="0D1F3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709160" y="1371600"/>
            <a:ext cx="64008" cy="107899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37176" y="1444752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📷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330952" y="144475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2CB"/>
                </a:solidFill>
              </a:rPr>
              <a:t>Zero New Infrastructure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330952" y="1773936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</a:rPr>
              <a:t>Deploys entirely on existing municipal CCTV — edge device attaches to existing camera housing; no road digging required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09160" y="2578608"/>
            <a:ext cx="4206240" cy="1078992"/>
          </a:xfrm>
          <a:prstGeom prst="rect">
            <a:avLst/>
          </a:prstGeom>
          <a:solidFill>
            <a:srgbClr val="122540"/>
          </a:solidFill>
          <a:ln w="12700">
            <a:solidFill>
              <a:srgbClr val="0D1F3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709160" y="2578608"/>
            <a:ext cx="64008" cy="107899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837176" y="2651760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🔒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5330952" y="265176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</a:rPr>
              <a:t>Failure-Safe by Design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330952" y="2980944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</a:rPr>
              <a:t>Device fault or power loss triggers automatic reversion to stored fixed-timer schedule — no intersection ever goes dark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28600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22C55E"/>
                </a:solidFill>
              </a:rPr>
              <a:t>IMPACT &amp; COST FEASIBILITY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28600" y="822960"/>
            <a:ext cx="2743200" cy="1481328"/>
          </a:xfrm>
          <a:prstGeom prst="rect">
            <a:avLst/>
          </a:prstGeom>
          <a:solidFill>
            <a:srgbClr val="122540"/>
          </a:solidFill>
          <a:ln w="12700">
            <a:solidFill>
              <a:srgbClr val="0D1F3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28600" y="822960"/>
            <a:ext cx="2743200" cy="54864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28600" y="93268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28–35%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228600" y="15544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↓ Vehicle Wait Time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28600" y="18470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BB8C8"/>
                </a:solidFill>
              </a:rPr>
              <a:t>Webster benchmarks / Pittsburgh SURTRAC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72968" y="822960"/>
            <a:ext cx="2743200" cy="1481328"/>
          </a:xfrm>
          <a:prstGeom prst="rect">
            <a:avLst/>
          </a:prstGeom>
          <a:solidFill>
            <a:srgbClr val="122540"/>
          </a:solidFill>
          <a:ln w="12700">
            <a:solidFill>
              <a:srgbClr val="0D1F3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172968" y="822960"/>
            <a:ext cx="274320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172968" y="93268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sec/km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172968" y="15544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Emergency Delay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172968" y="18470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BB8C8"/>
                </a:solidFill>
              </a:rPr>
              <a:t>vs ~4 min/km with fixed signals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17336" y="822960"/>
            <a:ext cx="2743200" cy="1481328"/>
          </a:xfrm>
          <a:prstGeom prst="rect">
            <a:avLst/>
          </a:prstGeom>
          <a:solidFill>
            <a:srgbClr val="122540"/>
          </a:solidFill>
          <a:ln w="12700">
            <a:solidFill>
              <a:srgbClr val="0D1F3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117336" y="822960"/>
            <a:ext cx="274320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117336" y="93268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12–18%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117336" y="15544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↓ Fuel &amp; Emissions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17336" y="18470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BB8C8"/>
                </a:solidFill>
              </a:rPr>
              <a:t>Elimination of unnecessary red-phase idling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28600" y="256032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0C2CB"/>
                </a:solidFill>
              </a:rPr>
              <a:t>COST PER INTERSECTION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28600" y="2926080"/>
            <a:ext cx="4754880" cy="338328"/>
          </a:xfrm>
          <a:prstGeom prst="rect">
            <a:avLst/>
          </a:prstGeom>
          <a:solidFill>
            <a:srgbClr val="122540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65760" y="2926080"/>
            <a:ext cx="3200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8"/>
                </a:solidFill>
              </a:rPr>
              <a:t>Edge AI Device (Jetson Nano / RPi 5)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566160" y="2926080"/>
            <a:ext cx="1280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00C2CB"/>
                </a:solidFill>
              </a:rPr>
              <a:t>₹12,000 – ₹18,000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28600" y="3273552"/>
            <a:ext cx="4754880" cy="33832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65760" y="3273552"/>
            <a:ext cx="3200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8"/>
                </a:solidFill>
              </a:rPr>
              <a:t>Camera Integration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566160" y="3273552"/>
            <a:ext cx="1280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00C2CB"/>
                </a:solidFill>
              </a:rPr>
              <a:t>₹0 (existing CCTV)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228600" y="3621024"/>
            <a:ext cx="4754880" cy="338328"/>
          </a:xfrm>
          <a:prstGeom prst="rect">
            <a:avLst/>
          </a:prstGeom>
          <a:solidFill>
            <a:srgbClr val="122540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65760" y="3621024"/>
            <a:ext cx="3200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8"/>
                </a:solidFill>
              </a:rPr>
              <a:t>Signal Controller Adapter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566160" y="3621024"/>
            <a:ext cx="1280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00C2CB"/>
                </a:solidFill>
              </a:rPr>
              <a:t>₹3,000 – ₹5,000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228600" y="3968496"/>
            <a:ext cx="4754880" cy="33832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65760" y="3968496"/>
            <a:ext cx="3200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8"/>
                </a:solidFill>
              </a:rPr>
              <a:t>Software (YOLOv8, FastAPI, React)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3566160" y="3968496"/>
            <a:ext cx="1280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00C2CB"/>
                </a:solidFill>
              </a:rPr>
              <a:t>Open-source / ₹0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228600" y="4315968"/>
            <a:ext cx="4754880" cy="338328"/>
          </a:xfrm>
          <a:prstGeom prst="rect">
            <a:avLst/>
          </a:prstGeom>
          <a:solidFill>
            <a:srgbClr val="007F8B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65760" y="4315968"/>
            <a:ext cx="3200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TOTAL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3566160" y="4315968"/>
            <a:ext cx="1280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00C2CB"/>
                </a:solidFill>
              </a:rPr>
              <a:t>₹15,000 – ₹23,000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257800" y="2560320"/>
            <a:ext cx="3657600" cy="2331720"/>
          </a:xfrm>
          <a:prstGeom prst="rect">
            <a:avLst/>
          </a:prstGeom>
          <a:solidFill>
            <a:srgbClr val="122540"/>
          </a:solidFill>
          <a:ln w="1270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5257800" y="2560320"/>
            <a:ext cx="3657600" cy="3840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257800" y="256032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200" dirty="0">
                <a:solidFill>
                  <a:srgbClr val="FFFFFF"/>
                </a:solidFill>
              </a:rPr>
              <a:t>ROI COMPARISON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349240" y="30175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C2CB"/>
                </a:solidFill>
              </a:rPr>
              <a:t>₹15k–23k</a:t>
            </a:r>
            <a:endParaRPr lang="en-US" sz="2800" dirty="0"/>
          </a:p>
        </p:txBody>
      </p:sp>
      <p:sp>
        <p:nvSpPr>
          <p:cNvPr id="40" name="Text 38"/>
          <p:cNvSpPr/>
          <p:nvPr/>
        </p:nvSpPr>
        <p:spPr>
          <a:xfrm>
            <a:off x="5349240" y="34930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B8C8"/>
                </a:solidFill>
              </a:rPr>
              <a:t>UrbanMind per intersection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349240" y="3822192"/>
            <a:ext cx="3383280" cy="18288"/>
          </a:xfrm>
          <a:prstGeom prst="rect">
            <a:avLst/>
          </a:prstGeom>
          <a:solidFill>
            <a:srgbClr val="007F8B"/>
          </a:solidFill>
          <a:ln w="12700">
            <a:solidFill>
              <a:srgbClr val="007F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349240" y="385876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F4F8"/>
                </a:solidFill>
              </a:rPr>
              <a:t>vs ₹8–12 lakh for new signal infra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349240" y="41605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C55E"/>
                </a:solidFill>
              </a:rPr>
              <a:t>ROI Breakeven: ~14 months at 50-intersection deployment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28600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C2CB"/>
                </a:solidFill>
              </a:rPr>
              <a:t>DEPLOYMENT ROADMAP &amp; VISION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28600" y="804672"/>
            <a:ext cx="2743200" cy="2148840"/>
          </a:xfrm>
          <a:prstGeom prst="rect">
            <a:avLst/>
          </a:prstGeom>
          <a:solidFill>
            <a:srgbClr val="122540"/>
          </a:solidFill>
          <a:ln w="12700">
            <a:solidFill>
              <a:srgbClr val="0D1F3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28600" y="804672"/>
            <a:ext cx="2743200" cy="457200"/>
          </a:xfrm>
          <a:prstGeom prst="rect">
            <a:avLst/>
          </a:prstGeom>
          <a:solidFill>
            <a:srgbClr val="007F8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28600" y="804672"/>
            <a:ext cx="1371600" cy="4572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Phase 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600200" y="804672"/>
            <a:ext cx="1371600" cy="4572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0C2CB"/>
                </a:solidFill>
              </a:rPr>
              <a:t>Months 1–4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38328" y="135331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2CB"/>
                </a:solidFill>
              </a:rPr>
              <a:t>Live Pilot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38328" y="1719072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8"/>
                </a:solidFill>
              </a:rPr>
              <a:t>Deploy at 5 high-congestion intersections — instrument, baseline, measure KPIs against fixed-timer control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971800" y="1801368"/>
            <a:ext cx="201168" cy="54864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172968" y="804672"/>
            <a:ext cx="2743200" cy="2148840"/>
          </a:xfrm>
          <a:prstGeom prst="rect">
            <a:avLst/>
          </a:prstGeom>
          <a:solidFill>
            <a:srgbClr val="122540"/>
          </a:solidFill>
          <a:ln w="12700">
            <a:solidFill>
              <a:srgbClr val="0D1F3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172968" y="804672"/>
            <a:ext cx="2743200" cy="457200"/>
          </a:xfrm>
          <a:prstGeom prst="rect">
            <a:avLst/>
          </a:prstGeom>
          <a:solidFill>
            <a:srgbClr val="007F8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172968" y="804672"/>
            <a:ext cx="1371600" cy="4572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Phase 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44568" y="804672"/>
            <a:ext cx="1371600" cy="4572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0C2CB"/>
                </a:solidFill>
              </a:rPr>
              <a:t>Months 5–12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82696" y="135331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2CB"/>
                </a:solidFill>
              </a:rPr>
              <a:t>Corridor Scale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282696" y="1719072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8"/>
                </a:solidFill>
              </a:rPr>
              <a:t>25–50 intersections — enable multi-intersection green wave coordination and emergency corridor testing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916168" y="1801368"/>
            <a:ext cx="201168" cy="54864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117336" y="804672"/>
            <a:ext cx="2743200" cy="2148840"/>
          </a:xfrm>
          <a:prstGeom prst="rect">
            <a:avLst/>
          </a:prstGeom>
          <a:solidFill>
            <a:srgbClr val="122540"/>
          </a:solidFill>
          <a:ln w="12700">
            <a:solidFill>
              <a:srgbClr val="0D1F3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117336" y="804672"/>
            <a:ext cx="2743200" cy="457200"/>
          </a:xfrm>
          <a:prstGeom prst="rect">
            <a:avLst/>
          </a:prstGeom>
          <a:solidFill>
            <a:srgbClr val="0D5C35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117336" y="804672"/>
            <a:ext cx="1371600" cy="4572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Phase 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488936" y="804672"/>
            <a:ext cx="1371600" cy="4572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2C55E"/>
                </a:solidFill>
              </a:rPr>
              <a:t>Year 2+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227064" y="135331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</a:rPr>
              <a:t>City Platform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227064" y="1719072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8"/>
                </a:solidFill>
              </a:rPr>
              <a:t>City-wide deployment with municipal traffic control centre integration and open API for third-party apps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228600" y="32004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0C2CB"/>
                </a:solidFill>
              </a:rPr>
              <a:t>FUTURE EXPANSION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28600" y="3566160"/>
            <a:ext cx="4206240" cy="530352"/>
          </a:xfrm>
          <a:prstGeom prst="rect">
            <a:avLst/>
          </a:prstGeom>
          <a:solidFill>
            <a:srgbClr val="122540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20040" y="3566160"/>
            <a:ext cx="411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77240" y="3566160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8"/>
                </a:solidFill>
              </a:rPr>
              <a:t>LSTM traffic prediction engine — anticipate congestion 15–30 min ahead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709160" y="3566160"/>
            <a:ext cx="4206240" cy="530352"/>
          </a:xfrm>
          <a:prstGeom prst="rect">
            <a:avLst/>
          </a:prstGeom>
          <a:solidFill>
            <a:srgbClr val="122540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800600" y="3566160"/>
            <a:ext cx="411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🌆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257800" y="3566160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8"/>
                </a:solidFill>
              </a:rPr>
              <a:t>City digital twin for signal-timing simulation before live deployment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228600" y="4187952"/>
            <a:ext cx="4206240" cy="530352"/>
          </a:xfrm>
          <a:prstGeom prst="rect">
            <a:avLst/>
          </a:prstGeom>
          <a:solidFill>
            <a:srgbClr val="122540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20040" y="4187952"/>
            <a:ext cx="411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🚌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777240" y="4187952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8"/>
                </a:solidFill>
              </a:rPr>
              <a:t>Bus priority integration — extend green corridor to BMTC/BEST/DTC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4709160" y="4187952"/>
            <a:ext cx="4206240" cy="530352"/>
          </a:xfrm>
          <a:prstGeom prst="rect">
            <a:avLst/>
          </a:prstGeom>
          <a:solidFill>
            <a:srgbClr val="122540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800600" y="4187952"/>
            <a:ext cx="411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📱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5257800" y="4187952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8"/>
                </a:solidFill>
              </a:rPr>
              <a:t>Citizen mobile alerts for real-time route suggestions around active corridors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007F8B"/>
          </a:solidFill>
          <a:ln w="12700">
            <a:solidFill>
              <a:srgbClr val="007F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228600" y="477316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Vision: Make UrbanMind the operating system for Indian urban mobility — a self-optimizing AI layer that cities deploy once and continuously improve.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1097</Words>
  <Application>Microsoft Macintosh PowerPoint</Application>
  <PresentationFormat>On-screen Show (16:9)</PresentationFormat>
  <Paragraphs>198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UrbanMind: Dynamic AI Traffic Flow Optimizer &amp; Emergency Grid</dc:title>
  <dc:subject>PptxGenJS Presentation</dc:subject>
  <dc:creator>PptxGenJS</dc:creator>
  <cp:lastModifiedBy>Anurag Kumar Singh</cp:lastModifiedBy>
  <cp:revision>3</cp:revision>
  <dcterms:created xsi:type="dcterms:W3CDTF">2026-03-10T07:54:32Z</dcterms:created>
  <dcterms:modified xsi:type="dcterms:W3CDTF">2026-03-10T08:16:05Z</dcterms:modified>
</cp:coreProperties>
</file>